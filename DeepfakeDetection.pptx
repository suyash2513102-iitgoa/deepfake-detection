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56" r:id="rId2"/>
    <p:sldId id="257" r:id="rId3"/>
    <p:sldId id="259" r:id="rId4"/>
    <p:sldId id="258" r:id="rId5"/>
    <p:sldId id="260" r:id="rId6"/>
    <p:sldId id="271" r:id="rId7"/>
    <p:sldId id="276" r:id="rId8"/>
    <p:sldId id="277" r:id="rId9"/>
    <p:sldId id="273" r:id="rId10"/>
    <p:sldId id="274" r:id="rId11"/>
    <p:sldId id="275" r:id="rId12"/>
    <p:sldId id="261" r:id="rId13"/>
    <p:sldId id="262" r:id="rId14"/>
    <p:sldId id="263" r:id="rId15"/>
    <p:sldId id="264" r:id="rId16"/>
    <p:sldId id="266" r:id="rId17"/>
    <p:sldId id="265" r:id="rId18"/>
    <p:sldId id="267" r:id="rId19"/>
    <p:sldId id="268" r:id="rId20"/>
    <p:sldId id="270" r:id="rId21"/>
    <p:sldId id="26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6DFDD6-8646-46C2-9832-C10C63DE3F68}">
          <p14:sldIdLst>
            <p14:sldId id="256"/>
            <p14:sldId id="257"/>
            <p14:sldId id="259"/>
            <p14:sldId id="258"/>
            <p14:sldId id="260"/>
            <p14:sldId id="271"/>
            <p14:sldId id="276"/>
            <p14:sldId id="277"/>
            <p14:sldId id="273"/>
            <p14:sldId id="274"/>
            <p14:sldId id="275"/>
            <p14:sldId id="261"/>
            <p14:sldId id="262"/>
            <p14:sldId id="263"/>
            <p14:sldId id="264"/>
            <p14:sldId id="266"/>
            <p14:sldId id="265"/>
            <p14:sldId id="267"/>
            <p14:sldId id="268"/>
            <p14:sldId id="270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37902-52FD-485D-A2C6-BCE816603BA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CA0C6-154A-4076-B72D-E5591C3A45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0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1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222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647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790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24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3798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664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32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87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089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246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415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886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021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423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370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06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D3D0FE3-3DAB-45E4-8ED7-A6D05518B269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842186A-1E94-4998-B345-B47D60B02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3698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17D93A7-708F-DCFE-CE86-877E2136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4141"/>
            <a:ext cx="4581427" cy="6872141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5D7C0C92-3315-3218-3D06-7840BA3B4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4488" y="1674829"/>
            <a:ext cx="6815578" cy="2218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500"/>
              </a:lnSpc>
              <a:buNone/>
            </a:pPr>
            <a:br>
              <a:rPr lang="en-US" sz="7200" dirty="0"/>
            </a:br>
            <a:r>
              <a:rPr lang="en-US" sz="7200" dirty="0"/>
              <a:t>Deepfake</a:t>
            </a:r>
            <a:br>
              <a:rPr lang="en-US" sz="7200" dirty="0"/>
            </a:br>
            <a:r>
              <a:rPr lang="en-US" sz="7200" dirty="0"/>
              <a:t>Detection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75F987C-DFB2-E06D-4963-7CA51DB017A2}"/>
              </a:ext>
            </a:extLst>
          </p:cNvPr>
          <p:cNvSpPr/>
          <p:nvPr/>
        </p:nvSpPr>
        <p:spPr>
          <a:xfrm>
            <a:off x="8720062" y="4974376"/>
            <a:ext cx="3344120" cy="1464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3000"/>
              </a:lnSpc>
            </a:pPr>
            <a:r>
              <a:rPr lang="en-US" sz="2400" b="1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Team members:</a:t>
            </a:r>
          </a:p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Rajat Purohit -2513101</a:t>
            </a:r>
            <a:endParaRPr lang="en-US" sz="2000" b="1" dirty="0">
              <a:solidFill>
                <a:schemeClr val="tx1">
                  <a:lumMod val="95000"/>
                </a:schemeClr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342900" indent="-342900" algn="l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1850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Suyash Shirodkar- 2513102</a:t>
            </a:r>
          </a:p>
          <a:p>
            <a:pPr marL="342900" indent="-342900" algn="l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1850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Vishakh Anant - 2513110</a:t>
            </a:r>
          </a:p>
        </p:txBody>
      </p:sp>
    </p:spTree>
    <p:extLst>
      <p:ext uri="{BB962C8B-B14F-4D97-AF65-F5344CB8AC3E}">
        <p14:creationId xmlns:p14="http://schemas.microsoft.com/office/powerpoint/2010/main" val="3480769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1BC36-31FD-4048-F35C-9514896A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36016"/>
          </a:xfrm>
        </p:spPr>
        <p:txBody>
          <a:bodyPr>
            <a:normAutofit/>
          </a:bodyPr>
          <a:lstStyle/>
          <a:p>
            <a:r>
              <a:rPr lang="en-IN" sz="5400" b="1" u="sng" dirty="0">
                <a:effectLst/>
              </a:rPr>
              <a:t>Problem</a:t>
            </a:r>
            <a:r>
              <a:rPr lang="en-IN" sz="5400" b="1" dirty="0">
                <a:effectLst/>
              </a:rPr>
              <a:t> </a:t>
            </a:r>
            <a:r>
              <a:rPr lang="en-IN" sz="5400" b="1" u="sng" dirty="0">
                <a:effectLst/>
              </a:rPr>
              <a:t>Statement</a:t>
            </a:r>
            <a:endParaRPr lang="en-IN" sz="54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1EA83-ED06-D012-2AA4-DB113487B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88" y="2045616"/>
            <a:ext cx="9905998" cy="84841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800" dirty="0">
                <a:effectLst/>
              </a:rPr>
              <a:t>To Develop a model capable of detecting artificially altered videos and classify them as real and fake</a:t>
            </a:r>
            <a:endParaRPr lang="en-IN" sz="2800" dirty="0"/>
          </a:p>
        </p:txBody>
      </p:sp>
      <p:pic>
        <p:nvPicPr>
          <p:cNvPr id="1026" name="Picture 2" descr="Close up of womans face with highlighted data points for deepfake technology.">
            <a:extLst>
              <a:ext uri="{FF2B5EF4-FFF2-40B4-BE49-F238E27FC236}">
                <a16:creationId xmlns:a16="http://schemas.microsoft.com/office/drawing/2014/main" id="{62A04E38-B58C-DEB1-759B-E2FE72A02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94028"/>
            <a:ext cx="12192000" cy="396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24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B8D1-A8E3-71B1-5D81-0559A4BF6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dirty="0">
                <a:effectLst/>
              </a:rPr>
              <a:t>Objectives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51295-4850-3AE3-3F0F-A583074AF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015" y="1949266"/>
            <a:ext cx="10926272" cy="4058751"/>
          </a:xfrm>
        </p:spPr>
        <p:txBody>
          <a:bodyPr/>
          <a:lstStyle/>
          <a:p>
            <a:r>
              <a:rPr lang="en-US" dirty="0">
                <a:effectLst/>
              </a:rPr>
              <a:t>To train a deep learning model (EfficientNet-B0) for binary classification.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To accurately classify facial images as Real or Fake.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To evaluate model performance using training, validation, and test data.</a:t>
            </a:r>
          </a:p>
          <a:p>
            <a:endParaRPr lang="en-US" dirty="0"/>
          </a:p>
          <a:p>
            <a:r>
              <a:rPr lang="en-US" dirty="0">
                <a:effectLst/>
              </a:rPr>
              <a:t>To develop an automated system capable of identifying deepfake facial content.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09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541B-CDE0-4EDD-DB7C-A2A0A8A3F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dirty="0">
                <a:effectLst/>
              </a:rPr>
              <a:t>Introduction</a:t>
            </a:r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E8C24-9CE5-BF7F-C3B3-9F8CB2C0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769809" cy="405875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</a:rPr>
              <a:t>Deepfakes pose threats to privacy, security, and the credibility of digital content.</a:t>
            </a:r>
            <a:endParaRPr lang="en-US" dirty="0"/>
          </a:p>
          <a:p>
            <a:r>
              <a:rPr lang="en-US" dirty="0">
                <a:effectLst/>
              </a:rPr>
              <a:t>To address this challenge, our project focuses on building a deep learning model capable of detecting fake faces.</a:t>
            </a:r>
            <a:endParaRPr lang="en-US" dirty="0"/>
          </a:p>
          <a:p>
            <a:r>
              <a:rPr lang="en-US" dirty="0">
                <a:effectLst/>
              </a:rPr>
              <a:t>Using extracted face frames from the </a:t>
            </a:r>
            <a:r>
              <a:rPr lang="en-US" dirty="0" err="1">
                <a:effectLst/>
              </a:rPr>
              <a:t>FaceForensics</a:t>
            </a:r>
            <a:r>
              <a:rPr lang="en-US" dirty="0">
                <a:effectLst/>
              </a:rPr>
              <a:t>++ dataset, we train an EfficientNet-B0 classifier to distinguish between real and fake facial images</a:t>
            </a:r>
            <a:endParaRPr lang="en-US" dirty="0"/>
          </a:p>
          <a:p>
            <a:pPr marL="36900" indent="0">
              <a:buNone/>
            </a:pPr>
            <a:endParaRPr lang="en-US" dirty="0"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CED154-CE1F-B951-EA96-E7B46F94685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97756" y="-462343"/>
            <a:ext cx="7661244" cy="46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51" name="Picture 3" descr="How Does Deepfake Technology Work and Should I Be ...">
            <a:extLst>
              <a:ext uri="{FF2B5EF4-FFF2-40B4-BE49-F238E27FC236}">
                <a16:creationId xmlns:a16="http://schemas.microsoft.com/office/drawing/2014/main" id="{B9F28187-370B-1B85-D088-DCC2A13E7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240" y="1162640"/>
            <a:ext cx="5085760" cy="508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726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7239-1A5C-731F-A65B-C7ABB319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Dataset Overview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EA3ED-6835-E195-3E87-5118FA6A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54346"/>
            <a:ext cx="10549199" cy="274048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US" sz="2800" b="1" dirty="0">
              <a:solidFill>
                <a:srgbClr val="FFFFFF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FaceForensics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++</a:t>
            </a:r>
          </a:p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1000 original videos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ts val="2800"/>
              </a:lnSpc>
              <a:buSzPct val="100000"/>
            </a:pP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	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1000 fake videos (200 each of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DeepFakes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Face2Face,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FaceSwap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FaceShifter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NeuralTextures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>
              <a:lnSpc>
                <a:spcPts val="2800"/>
              </a:lnSpc>
              <a:buSzPct val="100000"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Single subject speaking in controlled environments</a:t>
            </a:r>
            <a:r>
              <a:rPr lang="en-US" sz="1600" dirty="0">
                <a:solidFill>
                  <a:schemeClr val="tx1">
                    <a:lumMod val="95000"/>
                  </a:schemeClr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  <a:p>
            <a:pPr marL="369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504E4D-777F-7AE8-A6A6-EC7169F92990}"/>
              </a:ext>
            </a:extLst>
          </p:cNvPr>
          <p:cNvSpPr/>
          <p:nvPr/>
        </p:nvSpPr>
        <p:spPr>
          <a:xfrm>
            <a:off x="1113472" y="1859219"/>
            <a:ext cx="285761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2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F29495-79A6-93A5-7F69-C5A4209410A8}"/>
              </a:ext>
            </a:extLst>
          </p:cNvPr>
          <p:cNvSpPr/>
          <p:nvPr/>
        </p:nvSpPr>
        <p:spPr>
          <a:xfrm>
            <a:off x="1022435" y="2189736"/>
            <a:ext cx="351103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00"/>
              </a:lnSpc>
              <a:buSzPct val="100000"/>
            </a:pP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BFBA861-092B-E692-F816-2A48140D2566}"/>
              </a:ext>
            </a:extLst>
          </p:cNvPr>
          <p:cNvSpPr/>
          <p:nvPr/>
        </p:nvSpPr>
        <p:spPr>
          <a:xfrm>
            <a:off x="1022435" y="2607646"/>
            <a:ext cx="3511034" cy="1438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16CCFE-20E2-6FC5-8F78-0B4179EF8A2D}"/>
              </a:ext>
            </a:extLst>
          </p:cNvPr>
          <p:cNvSpPr/>
          <p:nvPr/>
        </p:nvSpPr>
        <p:spPr>
          <a:xfrm>
            <a:off x="1022435" y="4104262"/>
            <a:ext cx="3511034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00"/>
              </a:lnSpc>
              <a:buSzPct val="100000"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25540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F9327-F37D-777B-9448-D619405DC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58345" cy="970450"/>
          </a:xfrm>
        </p:spPr>
        <p:txBody>
          <a:bodyPr>
            <a:normAutofit/>
          </a:bodyPr>
          <a:lstStyle/>
          <a:p>
            <a:r>
              <a:rPr lang="en-IN" sz="5400" b="1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47807-4604-7E2C-EFA2-DC723BB12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5798090" cy="4058751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800" b="1" u="sng" dirty="0">
                <a:solidFill>
                  <a:schemeClr val="tx1">
                    <a:lumMod val="95000"/>
                  </a:schemeClr>
                </a:solidFill>
              </a:rPr>
              <a:t>Why Model Selection Was Necessary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sz="2800" b="1" dirty="0">
              <a:solidFill>
                <a:schemeClr val="tx1">
                  <a:lumMod val="95000"/>
                </a:schemeClr>
              </a:solidFill>
            </a:endParaRP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Different CNN architectures vary in accuracy, speed, and computational cost</a:t>
            </a: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Deepfake detection requires a balance between performance and efficiency</a:t>
            </a: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dirty="0">
              <a:ln>
                <a:noFill/>
              </a:ln>
              <a:solidFill>
                <a:schemeClr val="tx1">
                  <a:lumMod val="8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Several models were tested on 50% of the dataset for 20 epochs</a:t>
            </a:r>
          </a:p>
          <a:p>
            <a:endParaRPr lang="en-IN" dirty="0"/>
          </a:p>
        </p:txBody>
      </p:sp>
      <p:pic>
        <p:nvPicPr>
          <p:cNvPr id="1027" name="Picture 3" descr="23,800+ Artificial Neural Network Stock Photos, Pictures &amp; Royalty-Free  Images - iStock | Artificial intelligence, Machine learning, Neurons">
            <a:extLst>
              <a:ext uri="{FF2B5EF4-FFF2-40B4-BE49-F238E27FC236}">
                <a16:creationId xmlns:a16="http://schemas.microsoft.com/office/drawing/2014/main" id="{E5547807-AF5F-7342-7ACF-320A2429D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197337" y="863339"/>
            <a:ext cx="6858002" cy="513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480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76E56-0CD0-8125-BCB1-FFFF615DD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09600"/>
            <a:ext cx="10530345" cy="970450"/>
          </a:xfrm>
        </p:spPr>
        <p:txBody>
          <a:bodyPr>
            <a:normAutofit/>
          </a:bodyPr>
          <a:lstStyle/>
          <a:p>
            <a:r>
              <a:rPr lang="en-US" sz="5400" b="1" dirty="0"/>
              <a:t> MobileNetV2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F18A8-4F2A-9055-44C2-3A7BBB4EB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3" y="1506206"/>
            <a:ext cx="10353762" cy="4058751"/>
          </a:xfrm>
        </p:spPr>
        <p:txBody>
          <a:bodyPr/>
          <a:lstStyle/>
          <a:p>
            <a:r>
              <a:rPr lang="en-US" dirty="0"/>
              <a:t>Lightweight, fast</a:t>
            </a:r>
          </a:p>
          <a:p>
            <a:r>
              <a:rPr lang="en-US" dirty="0"/>
              <a:t>Moderate validation accuracy: </a:t>
            </a:r>
            <a:r>
              <a:rPr lang="en-US" b="1" dirty="0"/>
              <a:t>79–80%</a:t>
            </a:r>
            <a:endParaRPr lang="en-US" dirty="0"/>
          </a:p>
          <a:p>
            <a:r>
              <a:rPr lang="en-US" dirty="0"/>
              <a:t>Struggles with complex facial artifacts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4BAAD1-CEB8-5772-18A1-5E7597669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69" y="2835444"/>
            <a:ext cx="10739770" cy="402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77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5936-9BF3-580F-CC9B-993FE9A2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MobileNetV3-Large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00CE9-3412-654F-0EA6-27B76E6B9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Improved architecture over V2</a:t>
            </a: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Validation accuracy: </a:t>
            </a:r>
            <a:r>
              <a:rPr lang="en-US" altLang="en-US" b="1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80–81%</a:t>
            </a:r>
            <a:endParaRPr lang="en-US" altLang="en-US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Still not robust enough for subtle manipulations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44F88-FF61-F109-26B4-9011B3205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76" y="2747345"/>
            <a:ext cx="11048215" cy="41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5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A8BF-7C17-B2A8-C595-B63E4FC3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EfficientNet-B4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AF85C7-96E2-F621-9816-5F0AB9D7F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8319" y="1640260"/>
            <a:ext cx="926715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Large and computationally heavy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Validation accuracy: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77–79%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Overparameterized for this dataset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Slow convergence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085215-F0BC-6D83-2687-DF675943C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963699"/>
            <a:ext cx="10477376" cy="389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26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12808-8991-0F2C-3BA0-BD683879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ResNet-50</a:t>
            </a:r>
            <a:endParaRPr lang="en-IN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46F9FC-A5F7-3B47-6893-C4A2D76EA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7807" y="1580050"/>
            <a:ext cx="109451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feature extraction via residual learning</a:t>
            </a: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accuracy: </a:t>
            </a:r>
            <a:r>
              <a:rPr lang="en-US" altLang="en-US" b="1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83–86%</a:t>
            </a:r>
            <a:endParaRPr lang="en-US" altLang="en-US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computational and memory cost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D0554C-635C-44EB-885E-FB8AD8D61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86" y="2732665"/>
            <a:ext cx="11171379" cy="412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62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C8D2-834D-C2FB-C5AF-1A0236B0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EfficientNet-B0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FD378A-4FCF-74E3-CBC4-F9363D18F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5136" y="1580050"/>
            <a:ext cx="897492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yet powerful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83–85%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balance of speed and accuracy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Stable training curves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5DD47-5F97-6E3A-5CF8-C925BEC0C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938882"/>
            <a:ext cx="10518736" cy="391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8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1F19-33CF-63A4-C55E-BB4A5E04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Model Architecture</a:t>
            </a:r>
            <a:endParaRPr lang="en-IN" sz="5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AC32C-3155-F7C0-0EFF-D58E4FFBA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440" y="1580050"/>
            <a:ext cx="9405482" cy="5000152"/>
          </a:xfrm>
        </p:spPr>
      </p:pic>
    </p:spTree>
    <p:extLst>
      <p:ext uri="{BB962C8B-B14F-4D97-AF65-F5344CB8AC3E}">
        <p14:creationId xmlns:p14="http://schemas.microsoft.com/office/powerpoint/2010/main" val="2840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F0316-BF11-D6D3-C588-4E74F6F72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6825611" cy="970450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Data Preprocessing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AB6A-923C-EABD-7967-028EA807F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27" y="2314280"/>
            <a:ext cx="10353762" cy="3934120"/>
          </a:xfrm>
        </p:spPr>
        <p:txBody>
          <a:bodyPr/>
          <a:lstStyle/>
          <a:p>
            <a:pPr marL="36900" indent="0">
              <a:buNone/>
            </a:pPr>
            <a:r>
              <a:rPr lang="en-US" sz="3200" dirty="0">
                <a:solidFill>
                  <a:srgbClr val="FFFFFF"/>
                </a:solidFill>
                <a:ea typeface="Unbounded" pitchFamily="34" charset="-122"/>
                <a:cs typeface="Unbounded" pitchFamily="34" charset="-120"/>
              </a:rPr>
              <a:t>Preprocessing Steps</a:t>
            </a:r>
            <a:endParaRPr lang="en-US" sz="3200" dirty="0"/>
          </a:p>
          <a:p>
            <a:r>
              <a:rPr lang="en-US" dirty="0">
                <a:solidFill>
                  <a:srgbClr val="CAD6DE"/>
                </a:solidFill>
                <a:ea typeface="Cabin" pitchFamily="34" charset="-122"/>
                <a:cs typeface="Cabin" pitchFamily="34" charset="-120"/>
              </a:rPr>
              <a:t>Video decoding (OpenCV) &amp; color conversion (BGR to RGB).</a:t>
            </a:r>
            <a:endParaRPr lang="en-US" dirty="0"/>
          </a:p>
          <a:p>
            <a:r>
              <a:rPr lang="en-US" dirty="0">
                <a:solidFill>
                  <a:srgbClr val="CAD6DE"/>
                </a:solidFill>
                <a:ea typeface="Cabin" pitchFamily="34" charset="-122"/>
                <a:cs typeface="Cabin" pitchFamily="34" charset="-120"/>
              </a:rPr>
              <a:t>Fixed number of evenly spaced frames extracted.</a:t>
            </a:r>
            <a:endParaRPr lang="en-US" dirty="0"/>
          </a:p>
          <a:p>
            <a:r>
              <a:rPr lang="en-US" dirty="0">
                <a:solidFill>
                  <a:srgbClr val="CAD6DE"/>
                </a:solidFill>
                <a:ea typeface="Cabin" pitchFamily="34" charset="-122"/>
                <a:cs typeface="Cabin" pitchFamily="34" charset="-120"/>
              </a:rPr>
              <a:t>face detected, cropped, resized, and normalized.</a:t>
            </a:r>
            <a:endParaRPr lang="en-US" dirty="0"/>
          </a:p>
          <a:p>
            <a:endParaRPr lang="en-IN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E01F886-6032-7124-5135-3C453A89A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477" y="0"/>
            <a:ext cx="33025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5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A40F-CB28-30A7-2E36-350B6838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0490"/>
            <a:ext cx="6561056" cy="1332321"/>
          </a:xfrm>
        </p:spPr>
        <p:txBody>
          <a:bodyPr>
            <a:noAutofit/>
          </a:bodyPr>
          <a:lstStyle/>
          <a:p>
            <a:r>
              <a:rPr lang="en-US" sz="5400" b="1" dirty="0"/>
              <a:t>Model Training Workflow</a:t>
            </a:r>
            <a:endParaRPr lang="en-IN" sz="5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ADF694-E9CE-1E23-1987-7CF44D62A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056" y="0"/>
            <a:ext cx="5630944" cy="6858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F8AFE5-4F2B-D57D-051B-C91964257D4E}"/>
              </a:ext>
            </a:extLst>
          </p:cNvPr>
          <p:cNvSpPr txBox="1"/>
          <p:nvPr/>
        </p:nvSpPr>
        <p:spPr>
          <a:xfrm>
            <a:off x="725865" y="2019968"/>
            <a:ext cx="5769203" cy="351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Processed face images are used to train the EfficientNet-B0 classifier, chosen for its strong performance-to-efficiency ratio.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8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 Loading using a data loader.</a:t>
            </a:r>
            <a:endParaRPr lang="en-US" dirty="0"/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Normalization and tensor conversion applied.</a:t>
            </a:r>
            <a:endParaRPr lang="en-US" dirty="0"/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Images fed into EfficientNet-B0.</a:t>
            </a:r>
            <a:endParaRPr lang="en-US" dirty="0"/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Classification loss computed using cross-entropy.</a:t>
            </a:r>
            <a:endParaRPr lang="en-US" dirty="0"/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Weights updated via backpropagation.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51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7FF1-E83B-251D-4135-470849C16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Testing &amp; Verification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20F93-823F-ED9F-3756-2D3E5A2AA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11939"/>
            <a:ext cx="10353762" cy="1142726"/>
          </a:xfrm>
        </p:spPr>
        <p:txBody>
          <a:bodyPr/>
          <a:lstStyle/>
          <a:p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Once trained, the model is evaluated on unseen face images, and predictions are manually verified for reliability.</a:t>
            </a:r>
            <a:endParaRPr lang="en-US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93E25D-F48A-6B38-6499-E3CFB992A893}"/>
              </a:ext>
            </a:extLst>
          </p:cNvPr>
          <p:cNvSpPr txBox="1">
            <a:spLocks/>
          </p:cNvSpPr>
          <p:nvPr/>
        </p:nvSpPr>
        <p:spPr>
          <a:xfrm>
            <a:off x="3183774" y="2884602"/>
            <a:ext cx="4626023" cy="308256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Verification Process</a:t>
            </a:r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Misclassified samples visually inspected.</a:t>
            </a:r>
            <a:endParaRPr lang="en-US" dirty="0"/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Facial regions examined.</a:t>
            </a:r>
            <a:endParaRPr lang="en-US" dirty="0"/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Differences between predicted and ground-truth labels analyzed.</a:t>
            </a:r>
            <a:endParaRPr lang="en-US" dirty="0"/>
          </a:p>
          <a:p>
            <a:pPr marL="0" indent="0">
              <a:lnSpc>
                <a:spcPts val="2750"/>
              </a:lnSpc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6A2113-00FF-8ACE-9879-7AED970A8AA8}"/>
              </a:ext>
            </a:extLst>
          </p:cNvPr>
          <p:cNvSpPr txBox="1">
            <a:spLocks/>
          </p:cNvSpPr>
          <p:nvPr/>
        </p:nvSpPr>
        <p:spPr>
          <a:xfrm>
            <a:off x="436170" y="2884602"/>
            <a:ext cx="4626024" cy="32051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75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Evaluation Metrics</a:t>
            </a:r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Accuracy</a:t>
            </a:r>
            <a:endParaRPr lang="en-US" dirty="0"/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Precision</a:t>
            </a:r>
            <a:endParaRPr lang="en-US" dirty="0"/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Recall</a:t>
            </a:r>
            <a:endParaRPr lang="en-US" dirty="0"/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F1-score</a:t>
            </a:r>
            <a:endParaRPr lang="en-US" dirty="0"/>
          </a:p>
          <a:p>
            <a:pPr indent="-342900">
              <a:lnSpc>
                <a:spcPts val="275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Confusion matrix</a:t>
            </a:r>
            <a:endParaRPr lang="en-US" dirty="0"/>
          </a:p>
          <a:p>
            <a:pPr marL="0" indent="0">
              <a:lnSpc>
                <a:spcPts val="2750"/>
              </a:lnSpc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5E2A9B-4941-3CA0-BB1D-2AE49D2BA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797" y="1983302"/>
            <a:ext cx="4223207" cy="43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1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A156-6EBA-1F90-7FA4-AA2AB2B2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dirty="0"/>
              <a:t>Results</a:t>
            </a:r>
            <a:endParaRPr lang="en-IN" sz="6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5B3F0-32F0-9C21-AEFC-A03580B00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80050"/>
            <a:ext cx="10353762" cy="4058751"/>
          </a:xfrm>
        </p:spPr>
        <p:txBody>
          <a:bodyPr>
            <a:normAutofit/>
          </a:bodyPr>
          <a:lstStyle/>
          <a:p>
            <a:r>
              <a:rPr lang="en-US" sz="2400" dirty="0"/>
              <a:t>Accuracy And Loss Curves for Training and Validation dataset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30056-72AE-2ED4-6DD0-D6572501D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21" y="2034918"/>
            <a:ext cx="9484646" cy="457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F0DD3-4992-323B-DDFB-B8A3BB40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Results</a:t>
            </a:r>
            <a:endParaRPr lang="en-IN" sz="5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CD004-6D37-CE04-ECF1-FA8C0963F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ts val="3250"/>
              </a:lnSpc>
              <a:buNone/>
            </a:pPr>
            <a:r>
              <a:rPr lang="en-US" sz="2800" b="1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Classification Report &amp; Testing Accuracy</a:t>
            </a:r>
            <a:endParaRPr lang="en-US" sz="2800" b="1" u="sng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E436D3F-132D-BE48-BB7B-EC78A8D1A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890665"/>
            <a:ext cx="8636653" cy="34755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A561B1-75A6-0AEC-796C-2ED47B262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43" y="2308998"/>
            <a:ext cx="8636653" cy="85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3443-EFDC-D788-98FE-918EB7F0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Results</a:t>
            </a:r>
            <a:endParaRPr lang="en-IN" sz="5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F28401-916B-5B82-1A0E-80FAE8CAC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12164"/>
            <a:ext cx="10353675" cy="213934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0367A2-AE2B-3678-9B6E-BD0E2D54E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3983623"/>
            <a:ext cx="10353675" cy="245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0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74217-A23E-96E8-6023-0535992F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023" y="2307822"/>
            <a:ext cx="9590550" cy="1828813"/>
          </a:xfrm>
        </p:spPr>
        <p:txBody>
          <a:bodyPr>
            <a:normAutofit fontScale="90000"/>
          </a:bodyPr>
          <a:lstStyle/>
          <a:p>
            <a:r>
              <a:rPr lang="en-US" sz="12500" b="1" dirty="0"/>
              <a:t>Demo</a:t>
            </a:r>
            <a:endParaRPr lang="en-IN" sz="12500" b="1" dirty="0"/>
          </a:p>
        </p:txBody>
      </p:sp>
    </p:spTree>
    <p:extLst>
      <p:ext uri="{BB962C8B-B14F-4D97-AF65-F5344CB8AC3E}">
        <p14:creationId xmlns:p14="http://schemas.microsoft.com/office/powerpoint/2010/main" val="276484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9276-36F9-1DA0-C1DC-64689FA38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691764"/>
            <a:ext cx="4104372" cy="739472"/>
          </a:xfrm>
        </p:spPr>
        <p:txBody>
          <a:bodyPr>
            <a:normAutofit fontScale="90000"/>
          </a:bodyPr>
          <a:lstStyle/>
          <a:p>
            <a:r>
              <a:rPr lang="en-IN" sz="6000" b="1" dirty="0"/>
              <a:t>Challenges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5897A-55FC-D424-2B72-E7AF25666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725" y="2182497"/>
            <a:ext cx="9590550" cy="2405405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2800" dirty="0"/>
              <a:t>Video Processing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endParaRPr lang="en-IN" sz="28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2800" dirty="0"/>
              <a:t>Hardware Limitations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endParaRPr lang="en-IN" sz="2800" dirty="0"/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IN" sz="2800" dirty="0"/>
              <a:t>Selecting The Model</a:t>
            </a:r>
          </a:p>
        </p:txBody>
      </p:sp>
      <p:pic>
        <p:nvPicPr>
          <p:cNvPr id="1026" name="Picture 2" descr="Online Backlash Starts Against Facebook &amp; Kaggle After Disqualifying The Winners Of The Deepfake Detection Challenge">
            <a:extLst>
              <a:ext uri="{FF2B5EF4-FFF2-40B4-BE49-F238E27FC236}">
                <a16:creationId xmlns:a16="http://schemas.microsoft.com/office/drawing/2014/main" id="{F7285784-E5EF-EF65-C87C-B9DBC61D8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408" y="0"/>
            <a:ext cx="639759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600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F517-145C-E0E2-0F8B-D6FEE906D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036" y="2185274"/>
            <a:ext cx="9590550" cy="1828813"/>
          </a:xfrm>
        </p:spPr>
        <p:txBody>
          <a:bodyPr>
            <a:normAutofit/>
          </a:bodyPr>
          <a:lstStyle/>
          <a:p>
            <a:r>
              <a:rPr lang="en-US" sz="8000" b="1" dirty="0"/>
              <a:t>Thank You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325668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131</TotalTime>
  <Words>473</Words>
  <Application>Microsoft Office PowerPoint</Application>
  <PresentationFormat>Widescreen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Cabin</vt:lpstr>
      <vt:lpstr>Calibri</vt:lpstr>
      <vt:lpstr>Calisto MT</vt:lpstr>
      <vt:lpstr>Unbounded</vt:lpstr>
      <vt:lpstr>Wingdings</vt:lpstr>
      <vt:lpstr>Wingdings 2</vt:lpstr>
      <vt:lpstr>Slate</vt:lpstr>
      <vt:lpstr> Deepfake Detection</vt:lpstr>
      <vt:lpstr>Problem Statement</vt:lpstr>
      <vt:lpstr>Objectives</vt:lpstr>
      <vt:lpstr>Introduction </vt:lpstr>
      <vt:lpstr>Dataset Overview</vt:lpstr>
      <vt:lpstr>Model Selection</vt:lpstr>
      <vt:lpstr> MobileNetV2</vt:lpstr>
      <vt:lpstr>MobileNetV3-Large</vt:lpstr>
      <vt:lpstr>EfficientNet-B4</vt:lpstr>
      <vt:lpstr>ResNet-50</vt:lpstr>
      <vt:lpstr>EfficientNet-B0</vt:lpstr>
      <vt:lpstr>Model Architecture</vt:lpstr>
      <vt:lpstr>Data Preprocessing</vt:lpstr>
      <vt:lpstr>Model Training Workflow</vt:lpstr>
      <vt:lpstr>Model Testing &amp; Verification </vt:lpstr>
      <vt:lpstr>Results</vt:lpstr>
      <vt:lpstr>Results</vt:lpstr>
      <vt:lpstr>Results</vt:lpstr>
      <vt:lpstr>Demo</vt:lpstr>
      <vt:lpstr>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gurunath shirodkar</dc:creator>
  <cp:lastModifiedBy>gurunath shirodkar</cp:lastModifiedBy>
  <cp:revision>5</cp:revision>
  <dcterms:created xsi:type="dcterms:W3CDTF">2025-11-16T13:00:17Z</dcterms:created>
  <dcterms:modified xsi:type="dcterms:W3CDTF">2025-11-18T04:21:56Z</dcterms:modified>
</cp:coreProperties>
</file>